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Theme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Logo" Type="http://schemas.openxmlformats.org/officeDocument/2006/relationships/image" Target="../media/logo.png"/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4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713232" y="658368"/>
            <a:ext cx="2240280" cy="384048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13232" y="1847088"/>
            <a:ext cx="5897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4300" dirty="0">
                <a:b/>
                <a:solidFill>
                  <a:srgbClr val="0B1220"/>
                </a:solidFill>
                <a:latin typeface="Aptos"/>
              </a:rPr>
              <a:t>Guru Space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49808" y="265176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850" dirty="0">
                <a:solidFill>
                  <a:srgbClr val="475569"/>
                </a:solidFill>
                <a:latin typeface="Aptos"/>
              </a:rPr>
              <a:t>AI Administrasi Guru untuk membuat perangkat ajar, asesmen, jurnal, dan dokumen sekolah lebih cepat.</a:t>
            </a:r>
          </a:p>
        </p:txBody>
      </p:sp>
      <p:sp>
        <p:nvSpPr>
          <p:cNvPr id="7" name="Shape 7"/>
          <p:cNvSpPr/>
          <p:nvPr/>
        </p:nvSpPr>
        <p:spPr>
          <a:xfrm>
            <a:off x="6903720" y="1005840"/>
            <a:ext cx="4206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sp>
        <p:nvSpPr>
          <p:cNvPr id="8" name="Shape 8"/>
          <p:cNvSpPr/>
          <p:nvPr/>
        </p:nvSpPr>
        <p:spPr>
          <a:xfrm>
            <a:off x="7315200" y="1417320"/>
            <a:ext cx="33832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571232" y="1609344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50" dirty="0">
                <a:b/>
                <a:solidFill>
                  <a:srgbClr val="FFFFFF"/>
                </a:solidFill>
                <a:latin typeface="Aptos"/>
              </a:rPr>
              <a:t>Dashboard Guru</a:t>
            </a:r>
          </a:p>
        </p:txBody>
      </p:sp>
      <p:sp>
        <p:nvSpPr>
          <p:cNvPr id="10" name="Shape 10"/>
          <p:cNvSpPr/>
          <p:nvPr/>
        </p:nvSpPr>
        <p:spPr>
          <a:xfrm>
            <a:off x="7315200" y="233172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7543800" y="2560320"/>
            <a:ext cx="109728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790688" y="255117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Kredit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790688" y="2990088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9992 tersedia</a:t>
            </a:r>
          </a:p>
        </p:txBody>
      </p:sp>
      <p:sp>
        <p:nvSpPr>
          <p:cNvPr id="14" name="Shape 14"/>
          <p:cNvSpPr/>
          <p:nvPr/>
        </p:nvSpPr>
        <p:spPr>
          <a:xfrm>
            <a:off x="9052560" y="233172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9281160" y="2560320"/>
            <a:ext cx="109728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9528048" y="255117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Dokumen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528048" y="2990088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Siap export</a:t>
            </a:r>
          </a:p>
        </p:txBody>
      </p:sp>
      <p:sp>
        <p:nvSpPr>
          <p:cNvPr id="18" name="Shape 18"/>
          <p:cNvSpPr/>
          <p:nvPr/>
        </p:nvSpPr>
        <p:spPr>
          <a:xfrm>
            <a:off x="7315200" y="352044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7543800" y="3749040"/>
            <a:ext cx="109728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790688" y="3739896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AI Assistant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790688" y="4178808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Pilih workflow, lihat rekomendasi, lalu buka generator resmi.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Tantangan Harian Guru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Waktu mengajar sering tersita oleh pekerjaan administratif yang berulang.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2377440"/>
            <a:ext cx="10972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3385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Dokumen banyak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3385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Modul ajar, ATP, PROTA, PROMES, LKPD, soal, rubrik, jurnal, dan laporan.</a:t>
            </a:r>
          </a:p>
        </p:txBody>
      </p:sp>
      <p:sp>
        <p:nvSpPr>
          <p:cNvPr id="10" name="Shape 10"/>
          <p:cNvSpPr/>
          <p:nvPr/>
        </p:nvSpPr>
        <p:spPr>
          <a:xfrm>
            <a:off x="623620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64808" y="2377440"/>
            <a:ext cx="109728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71169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Waktu terbatas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71169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Persiapan kelas, koreksi, dan administrasi sering menumpuk di luar jam mengajar.</a:t>
            </a:r>
          </a:p>
        </p:txBody>
      </p:sp>
      <p:sp>
        <p:nvSpPr>
          <p:cNvPr id="14" name="Shape 14"/>
          <p:cNvSpPr/>
          <p:nvPr/>
        </p:nvSpPr>
        <p:spPr>
          <a:xfrm>
            <a:off x="65836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86968" y="4114800"/>
            <a:ext cx="109728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3385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Format berbeda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Setiap dokumen butuh struktur yang rapi, konsisten, dan sesuai kebutuhan sekolah.</a:t>
            </a:r>
          </a:p>
        </p:txBody>
      </p:sp>
      <p:sp>
        <p:nvSpPr>
          <p:cNvPr id="18" name="Shape 18"/>
          <p:cNvSpPr/>
          <p:nvPr/>
        </p:nvSpPr>
        <p:spPr>
          <a:xfrm>
            <a:off x="623620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64808" y="4114800"/>
            <a:ext cx="109728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71169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Butuh cepat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71169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Guru membutuhkan alat bantu yang praktis tanpa harus membuat prompt rumit.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3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Apa Itu Guru Space?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Platform AI yang membantu guru membuat dan mengelola dokumen administrasi pembelajaran dari satu tempat.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2377440"/>
            <a:ext cx="10972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3385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AI Assistant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3385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Memandu guru memilih dokumen yang perlu dibuat berdasarkan alur kerja mengajar.</a:t>
            </a:r>
          </a:p>
        </p:txBody>
      </p:sp>
      <p:sp>
        <p:nvSpPr>
          <p:cNvPr id="10" name="Shape 10"/>
          <p:cNvSpPr/>
          <p:nvPr/>
        </p:nvSpPr>
        <p:spPr>
          <a:xfrm>
            <a:off x="623620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64808" y="2377440"/>
            <a:ext cx="109728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71169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Generator Dokumen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71169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Membuat dokumen ajar, asesmen, tindak lanjut nilai, dan administrasi kelas.</a:t>
            </a:r>
          </a:p>
        </p:txBody>
      </p:sp>
      <p:sp>
        <p:nvSpPr>
          <p:cNvPr id="14" name="Shape 14"/>
          <p:cNvSpPr/>
          <p:nvPr/>
        </p:nvSpPr>
        <p:spPr>
          <a:xfrm>
            <a:off x="65836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86968" y="4114800"/>
            <a:ext cx="109728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3385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Dokumen Saya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Hasil generate tersimpan, dapat dibuka ulang, dan siap diekspor.</a:t>
            </a:r>
          </a:p>
        </p:txBody>
      </p:sp>
      <p:sp>
        <p:nvSpPr>
          <p:cNvPr id="18" name="Shape 18"/>
          <p:cNvSpPr/>
          <p:nvPr/>
        </p:nvSpPr>
        <p:spPr>
          <a:xfrm>
            <a:off x="623620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64808" y="4114800"/>
            <a:ext cx="109728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71169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Mobile &amp; Desktop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71169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Dapat digunakan di komputer maupun ponsel sesuai kebutuhan guru.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4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Alur Penggunaan Sederhana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Guru tidak perlu memulai dari halaman kosong.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96012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6012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12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Lengkapi Profil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6012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Isi data sekolah, mapel, kelas, kurikulum, dan periode.</a:t>
            </a:r>
          </a:p>
        </p:txBody>
      </p:sp>
      <p:sp>
        <p:nvSpPr>
          <p:cNvPr id="11" name="Shape 11"/>
          <p:cNvSpPr/>
          <p:nvPr/>
        </p:nvSpPr>
        <p:spPr>
          <a:xfrm>
            <a:off x="356616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79476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79476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79476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Pilih Kebutuhan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79476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Gunakan AI Assistant atau langsung pilih generator dokumen.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62940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62940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62940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Cek Kredit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62940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Biaya kredit tampil sebelum proses generate dijalankan.</a:t>
            </a:r>
          </a:p>
        </p:txBody>
      </p:sp>
      <p:sp>
        <p:nvSpPr>
          <p:cNvPr id="21" name="Shape 21"/>
          <p:cNvSpPr/>
          <p:nvPr/>
        </p:nvSpPr>
        <p:spPr>
          <a:xfrm>
            <a:off x="923544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22" name="Shape 22"/>
          <p:cNvSpPr/>
          <p:nvPr/>
        </p:nvSpPr>
        <p:spPr>
          <a:xfrm>
            <a:off x="946404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46404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946404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Generate &amp; Simpan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46404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Dokumen tersimpan dan dapat diekspor sesuai kebutuhan.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5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AI Assistant: Bukan Chatbot Bebas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Assistant dibuat seperti alur pilihan, agar guru tidak perlu menulis prompt yang berisiko salah arah.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2377440"/>
            <a:ext cx="10972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3385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Pilih Workflow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3385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Contoh: Persiapan Semester, Persiapan Mengajar, Penilaian, atau Administrasi Harian.</a:t>
            </a:r>
          </a:p>
        </p:txBody>
      </p:sp>
      <p:sp>
        <p:nvSpPr>
          <p:cNvPr id="10" name="Shape 10"/>
          <p:cNvSpPr/>
          <p:nvPr/>
        </p:nvSpPr>
        <p:spPr>
          <a:xfrm>
            <a:off x="623620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64808" y="2377440"/>
            <a:ext cx="109728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71169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Cek Dokumen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71169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Assistant melihat dokumen apa yang sudah ada dan apa yang belum dibuat.</a:t>
            </a:r>
          </a:p>
        </p:txBody>
      </p:sp>
      <p:sp>
        <p:nvSpPr>
          <p:cNvPr id="14" name="Shape 14"/>
          <p:cNvSpPr/>
          <p:nvPr/>
        </p:nvSpPr>
        <p:spPr>
          <a:xfrm>
            <a:off x="65836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86968" y="4114800"/>
            <a:ext cx="109728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3385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Rekomendasi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Guru mendapat saran dokumen prioritas, misalnya buat PROMES atau LKPD.</a:t>
            </a:r>
          </a:p>
        </p:txBody>
      </p:sp>
      <p:sp>
        <p:nvSpPr>
          <p:cNvPr id="18" name="Shape 18"/>
          <p:cNvSpPr/>
          <p:nvPr/>
        </p:nvSpPr>
        <p:spPr>
          <a:xfrm>
            <a:off x="623620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64808" y="4114800"/>
            <a:ext cx="109728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71169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Lanjut Generator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71169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Jika disetujui, assistant membuka form generator resmi yang sudah 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6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Generator Dokumen Guru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Modul generator dikelompokkan sesuai kebutuhan kerja guru.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14884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2377440"/>
            <a:ext cx="109728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33856" y="236829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Perangkat Ajar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33856" y="28072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Modul Ajar/RPP, ATP, Bahan Ajar, PROTA, PROMES, LKPD, Silabus.</a:t>
            </a:r>
          </a:p>
        </p:txBody>
      </p:sp>
      <p:sp>
        <p:nvSpPr>
          <p:cNvPr id="10" name="Shape 10"/>
          <p:cNvSpPr/>
          <p:nvPr/>
        </p:nvSpPr>
        <p:spPr>
          <a:xfrm>
            <a:off x="4498848" y="214884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727448" y="2377440"/>
            <a:ext cx="109728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974336" y="236829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Asesmen &amp; Soal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974336" y="28072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Asesmen diagnostik, kisi-kisi, kartu soal, bank soal, dan rubrik.</a:t>
            </a:r>
          </a:p>
        </p:txBody>
      </p:sp>
      <p:sp>
        <p:nvSpPr>
          <p:cNvPr id="14" name="Shape 14"/>
          <p:cNvSpPr/>
          <p:nvPr/>
        </p:nvSpPr>
        <p:spPr>
          <a:xfrm>
            <a:off x="8339328" y="214884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567928" y="2377440"/>
            <a:ext cx="109728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814816" y="236829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Tindak Lanjut Nilai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814816" y="280720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Analisis penilaian, remedial, pengayaan, dan narasi rapor.</a:t>
            </a:r>
          </a:p>
        </p:txBody>
      </p:sp>
      <p:sp>
        <p:nvSpPr>
          <p:cNvPr id="18" name="Shape 18"/>
          <p:cNvSpPr/>
          <p:nvPr/>
        </p:nvSpPr>
        <p:spPr>
          <a:xfrm>
            <a:off x="658368" y="370332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86968" y="3931920"/>
            <a:ext cx="109728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133856" y="392277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Administrasi Kelas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33856" y="436168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Jurnal mengajar dan dokumen harian kelas.</a:t>
            </a:r>
          </a:p>
        </p:txBody>
      </p:sp>
      <p:sp>
        <p:nvSpPr>
          <p:cNvPr id="22" name="Shape 22"/>
          <p:cNvSpPr/>
          <p:nvPr/>
        </p:nvSpPr>
        <p:spPr>
          <a:xfrm>
            <a:off x="4498848" y="370332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23" name="Shape 23"/>
          <p:cNvSpPr/>
          <p:nvPr/>
        </p:nvSpPr>
        <p:spPr>
          <a:xfrm>
            <a:off x="4727448" y="3931920"/>
            <a:ext cx="109728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4974336" y="392277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Surat &amp; Administrasi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974336" y="4361688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Surat dinas dan kebutuhan administrasi sekolah.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7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Kelas, Siswa, Penilaian, dan Absensi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Guru Space tidak hanya membuat dokumen, tetapi membantu alur administrasi kelas.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2377440"/>
            <a:ext cx="10972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3385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Kelas &amp; Siswa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3385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Kelola kelas dan data siswa, termasuk upload template untuk mempercepat input.</a:t>
            </a:r>
          </a:p>
        </p:txBody>
      </p:sp>
      <p:sp>
        <p:nvSpPr>
          <p:cNvPr id="10" name="Shape 10"/>
          <p:cNvSpPr/>
          <p:nvPr/>
        </p:nvSpPr>
        <p:spPr>
          <a:xfrm>
            <a:off x="623620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64808" y="2377440"/>
            <a:ext cx="109728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71169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Penilaian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71169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Bantu membuat asesmen, rekap, analisis nilai, dan tindak lanjut belajar.</a:t>
            </a:r>
          </a:p>
        </p:txBody>
      </p:sp>
      <p:sp>
        <p:nvSpPr>
          <p:cNvPr id="14" name="Shape 14"/>
          <p:cNvSpPr/>
          <p:nvPr/>
        </p:nvSpPr>
        <p:spPr>
          <a:xfrm>
            <a:off x="65836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86968" y="4114800"/>
            <a:ext cx="109728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3385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Absensi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Catat kehadiran siswa dan lihat rekap kegiatan kelas.</a:t>
            </a:r>
          </a:p>
        </p:txBody>
      </p:sp>
      <p:sp>
        <p:nvSpPr>
          <p:cNvPr id="18" name="Shape 18"/>
          <p:cNvSpPr/>
          <p:nvPr/>
        </p:nvSpPr>
        <p:spPr>
          <a:xfrm>
            <a:off x="623620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64808" y="4114800"/>
            <a:ext cx="109728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71169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Dokumen Saya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71169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Semua dokumen hasil generate dapat ditemukan kembali di satu tempat.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8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Kredit dan Paket Premium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Sistem kredit dibuat agar penggunaan AI transparan dan mudah dipahami.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2377440"/>
            <a:ext cx="10972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3385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Kredit Generate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3385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Setiap generator memiliki biaya kredit yang dapat dilihat sebelum dijalankan.</a:t>
            </a:r>
          </a:p>
        </p:txBody>
      </p:sp>
      <p:sp>
        <p:nvSpPr>
          <p:cNvPr id="10" name="Shape 10"/>
          <p:cNvSpPr/>
          <p:nvPr/>
        </p:nvSpPr>
        <p:spPr>
          <a:xfrm>
            <a:off x="623620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64808" y="2377440"/>
            <a:ext cx="109728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71169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Top Up Kredit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71169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Guru dapat menambah kredit sesuai kebutuhan penggunaan.</a:t>
            </a:r>
          </a:p>
        </p:txBody>
      </p:sp>
      <p:sp>
        <p:nvSpPr>
          <p:cNvPr id="14" name="Shape 14"/>
          <p:cNvSpPr/>
          <p:nvPr/>
        </p:nvSpPr>
        <p:spPr>
          <a:xfrm>
            <a:off x="65836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86968" y="4114800"/>
            <a:ext cx="109728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3385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Paket Langganan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Paket premium dapat membuka kuota dan fitur sesuai pengaturan platform.</a:t>
            </a:r>
          </a:p>
        </p:txBody>
      </p:sp>
      <p:sp>
        <p:nvSpPr>
          <p:cNvPr id="18" name="Shape 18"/>
          <p:cNvSpPr/>
          <p:nvPr/>
        </p:nvSpPr>
        <p:spPr>
          <a:xfrm>
            <a:off x="623620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64808" y="4114800"/>
            <a:ext cx="109728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71169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Kredit Gratis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71169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Guru dapat memperoleh kredit dari misi harian atau reward yang tersedia.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9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Manfaat Langsung untuk Guru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Guru Space membantu guru bekerja lebih cepat tanpa kehilangan kendali atas isi dokumen.</a:t>
            </a:r>
          </a:p>
        </p:txBody>
      </p:sp>
      <p:sp>
        <p:nvSpPr>
          <p:cNvPr id="6" name="Shape 6"/>
          <p:cNvSpPr/>
          <p:nvPr/>
        </p:nvSpPr>
        <p:spPr>
          <a:xfrm>
            <a:off x="749808" y="2148840"/>
            <a:ext cx="103327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Bullets 7"/>
          <p:cNvSpPr txBox="1"/>
          <p:nvPr/>
        </p:nvSpPr>
        <p:spPr>
          <a:xfrm>
            <a:off x="1097280" y="2514600"/>
            <a:ext cx="960120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id-ID" sz="1650" dirty="0">
                <a:solidFill>
                  <a:srgbClr val="334155"/>
                </a:solidFill>
                <a:latin typeface="Aptos"/>
              </a:rPr>
              <a:t>Mengurangi waktu membuat administrasi dari awal.</a:t>
            </a:r>
          </a:p>
          <a:p>
            <a:pPr marL="285750" indent="-171450">
              <a:buChar char="•"/>
            </a:pPr>
            <a:r>
              <a:rPr lang="id-ID" sz="1650" dirty="0">
                <a:solidFill>
                  <a:srgbClr val="334155"/>
                </a:solidFill>
                <a:latin typeface="Aptos"/>
              </a:rPr>
              <a:t>Membantu menyusun dokumen dengan struktur yang lebih rapi.</a:t>
            </a:r>
          </a:p>
          <a:p>
            <a:pPr marL="285750" indent="-171450">
              <a:buChar char="•"/>
            </a:pPr>
            <a:r>
              <a:rPr lang="id-ID" sz="1650" dirty="0">
                <a:solidFill>
                  <a:srgbClr val="334155"/>
                </a:solidFill>
                <a:latin typeface="Aptos"/>
              </a:rPr>
              <a:t>Memudahkan guru baru memahami alur dokumen yang perlu dibuat.</a:t>
            </a:r>
          </a:p>
          <a:p>
            <a:pPr marL="285750" indent="-171450">
              <a:buChar char="•"/>
            </a:pPr>
            <a:r>
              <a:rPr lang="id-ID" sz="1650" dirty="0">
                <a:solidFill>
                  <a:srgbClr val="334155"/>
                </a:solidFill>
                <a:latin typeface="Aptos"/>
              </a:rPr>
              <a:t>Mendukung persiapan mengajar, penilaian, dan administrasi harian.</a:t>
            </a:r>
          </a:p>
          <a:p>
            <a:pPr marL="285750" indent="-171450">
              <a:buChar char="•"/>
            </a:pPr>
            <a:r>
              <a:rPr lang="id-ID" sz="1650" dirty="0">
                <a:solidFill>
                  <a:srgbClr val="334155"/>
                </a:solidFill>
                <a:latin typeface="Aptos"/>
              </a:rPr>
              <a:t>Hasil tetap dapat diperiksa, disesuaikan, dan digunakan sesuai konteks kelas.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10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Contoh Skenario Penggunaan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Persiapan mengajar bisa dilakukan dengan alur yang lebih terarah.</a:t>
            </a:r>
          </a:p>
        </p:txBody>
      </p:sp>
      <p:sp>
        <p:nvSpPr>
          <p:cNvPr id="6" name="Shape 6"/>
          <p:cNvSpPr/>
          <p:nvPr/>
        </p:nvSpPr>
        <p:spPr>
          <a:xfrm>
            <a:off x="73152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96012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6012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Mulai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12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Guru memilih Persiapan Mengajar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6012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Assistant menampilkan dokumen pendukung yang relevan.</a:t>
            </a:r>
          </a:p>
        </p:txBody>
      </p:sp>
      <p:sp>
        <p:nvSpPr>
          <p:cNvPr id="11" name="Shape 11"/>
          <p:cNvSpPr/>
          <p:nvPr/>
        </p:nvSpPr>
        <p:spPr>
          <a:xfrm>
            <a:off x="356616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79476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79476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Cek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79476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Guru memilih LKPD dan Rubrik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79476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Sistem menampilkan estimasi kredit sebelum generate.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62940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62940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Buat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62940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Form generator terbuka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62940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Guru mengisi mapel, materi, tujuan pembelajaran, dan kelas.</a:t>
            </a:r>
          </a:p>
        </p:txBody>
      </p:sp>
      <p:sp>
        <p:nvSpPr>
          <p:cNvPr id="21" name="Shape 21"/>
          <p:cNvSpPr/>
          <p:nvPr/>
        </p:nvSpPr>
        <p:spPr>
          <a:xfrm>
            <a:off x="9235440" y="2176272"/>
            <a:ext cx="25603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22" name="Shape 22"/>
          <p:cNvSpPr/>
          <p:nvPr/>
        </p:nvSpPr>
        <p:spPr>
          <a:xfrm>
            <a:off x="9464040" y="243230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464040" y="2560320"/>
            <a:ext cx="53035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100" dirty="0">
                <a:b/>
                <a:solidFill>
                  <a:srgbClr val="FFFFFF"/>
                </a:solidFill>
                <a:latin typeface="Aptos"/>
              </a:rPr>
              <a:t>Simpan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9464040" y="313639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550" dirty="0">
                <a:b/>
                <a:solidFill>
                  <a:srgbClr val="0F172A"/>
                </a:solidFill>
                <a:latin typeface="Aptos"/>
              </a:rPr>
              <a:t>Dokumen tersimpan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464040" y="356616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120" dirty="0">
                <a:solidFill>
                  <a:srgbClr val="475569"/>
                </a:solidFill>
                <a:latin typeface="Aptos"/>
              </a:rPr>
              <a:t>Guru dapat mengunduh atau membuka ulang dokumen kapan saja.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11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" y="86868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2800" dirty="0">
                <a:b/>
                <a:solidFill>
                  <a:srgbClr val="0F172A"/>
                </a:solidFill>
                <a:latin typeface="Aptos"/>
              </a:rPr>
              <a:t>Mengapa Guru Space Cocok untuk Sekolah?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450" dirty="0">
                <a:solidFill>
                  <a:srgbClr val="64748B"/>
                </a:solidFill>
                <a:latin typeface="Aptos"/>
              </a:rPr>
              <a:t>Dirancang untuk kebutuhan administrasi guru Indonesia, bukan sekadar AI umum.</a:t>
            </a:r>
          </a:p>
        </p:txBody>
      </p:sp>
      <p:sp>
        <p:nvSpPr>
          <p:cNvPr id="6" name="Shape 6"/>
          <p:cNvSpPr/>
          <p:nvPr/>
        </p:nvSpPr>
        <p:spPr>
          <a:xfrm>
            <a:off x="65836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7" name="Shape 7"/>
          <p:cNvSpPr/>
          <p:nvPr/>
        </p:nvSpPr>
        <p:spPr>
          <a:xfrm>
            <a:off x="886968" y="2377440"/>
            <a:ext cx="10972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3385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Terarah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3385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Guru memilih alur dan generator, bukan menebak prompt sendiri.</a:t>
            </a:r>
          </a:p>
        </p:txBody>
      </p:sp>
      <p:sp>
        <p:nvSpPr>
          <p:cNvPr id="10" name="Shape 10"/>
          <p:cNvSpPr/>
          <p:nvPr/>
        </p:nvSpPr>
        <p:spPr>
          <a:xfrm>
            <a:off x="6236208" y="214884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64808" y="2377440"/>
            <a:ext cx="109728" cy="960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711696" y="236829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Kontekstual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711696" y="28072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Input mengikuti data guru, kelas, mapel, kurikulum, dan periode.</a:t>
            </a:r>
          </a:p>
        </p:txBody>
      </p:sp>
      <p:sp>
        <p:nvSpPr>
          <p:cNvPr id="14" name="Shape 14"/>
          <p:cNvSpPr/>
          <p:nvPr/>
        </p:nvSpPr>
        <p:spPr>
          <a:xfrm>
            <a:off x="65836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86968" y="4114800"/>
            <a:ext cx="109728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3385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Terkelola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Dokumen, kredit, paket, dan riwayat penggunaan berada dalam satu platform.</a:t>
            </a:r>
          </a:p>
        </p:txBody>
      </p:sp>
      <p:sp>
        <p:nvSpPr>
          <p:cNvPr id="18" name="Shape 18"/>
          <p:cNvSpPr/>
          <p:nvPr/>
        </p:nvSpPr>
        <p:spPr>
          <a:xfrm>
            <a:off x="6236208" y="38862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64808" y="4114800"/>
            <a:ext cx="109728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711696" y="4105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600" dirty="0">
                <a:b/>
                <a:solidFill>
                  <a:srgbClr val="0F172A"/>
                </a:solidFill>
                <a:latin typeface="Aptos"/>
              </a:rPr>
              <a:t>Berkembang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711696" y="4544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220" dirty="0">
                <a:solidFill>
                  <a:srgbClr val="475569"/>
                </a:solidFill>
                <a:latin typeface="Aptos"/>
              </a:rPr>
              <a:t>Generator dapat terus ditambah sesuai kebutuhan guru dan sekolah.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pic>
        <p:nvPicPr>
          <p:cNvPr id="900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411480" y="256032"/>
            <a:ext cx="1600200" cy="274320"/>
          </a:xfrm>
          <a:prstGeom prst="rect">
            <a:avLst/>
          </a:prstGeom>
        </p:spPr>
      </p:pic>
      <p:sp>
        <p:nvSpPr>
          <p:cNvPr id="901" name="Text 901"/>
          <p:cNvSpPr txBox="1"/>
          <p:nvPr/>
        </p:nvSpPr>
        <p:spPr>
          <a:xfrm>
            <a:off x="10012680" y="25603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id-ID" sz="900" dirty="0">
                <a:solidFill>
                  <a:srgbClr val="64748B"/>
                </a:solidFill>
                <a:latin typeface="Aptos"/>
              </a:rPr>
              <a:t>Guru Space  •  12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005840" y="1536192"/>
            <a:ext cx="621792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3600" dirty="0">
                <a:b/>
                <a:solidFill>
                  <a:srgbClr val="0B1220"/>
                </a:solidFill>
                <a:latin typeface="Aptos"/>
              </a:rPr>
              <a:t>Mulai Gunakan Guru Space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24128" y="2487168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id-ID" sz="1850" dirty="0">
                <a:solidFill>
                  <a:srgbClr val="475569"/>
                </a:solidFill>
                <a:latin typeface="Aptos"/>
              </a:rPr>
              <a:t>Buat administrasi mengajar lebih cepat, rapi, dan terarah dengan bantuan AI.</a:t>
            </a:r>
          </a:p>
        </p:txBody>
      </p:sp>
      <p:sp>
        <p:nvSpPr>
          <p:cNvPr id="6" name="Shape 6"/>
          <p:cNvSpPr/>
          <p:nvPr/>
        </p:nvSpPr>
        <p:spPr>
          <a:xfrm>
            <a:off x="1024128" y="3822192"/>
            <a:ext cx="338328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1417320" y="4014216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id-ID" sz="1050" dirty="0">
                <a:b/>
                <a:solidFill>
                  <a:srgbClr val="FFFFFF"/>
                </a:solidFill>
                <a:latin typeface="Aptos"/>
              </a:rPr>
              <a:t>Daftar, coba, dan mulai dari satu dokumen</a:t>
            </a:r>
          </a:p>
        </p:txBody>
      </p:sp>
      <p:sp>
        <p:nvSpPr>
          <p:cNvPr id="8" name="Shape 8"/>
          <p:cNvSpPr/>
          <p:nvPr/>
        </p:nvSpPr>
        <p:spPr>
          <a:xfrm>
            <a:off x="7498080" y="1234440"/>
            <a:ext cx="3108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</p:sp>
      <p:pic>
        <p:nvPicPr>
          <p:cNvPr id="9" name="Logo"/>
          <p:cNvPicPr/>
          <p:nvPr/>
        </p:nvPicPr>
        <p:blipFill>
          <a:blip r:embed="rLogo"/>
          <a:stretch>
            <a:fillRect/>
          </a:stretch>
        </p:blipFill>
        <p:spPr>
          <a:xfrm>
            <a:off x="8065008" y="2651760"/>
            <a:ext cx="201168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uruSpace">
  <a:themeElements>
    <a:clrScheme name="GuruSpac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10B981"/>
      </a:accent2>
      <a:accent3>
        <a:srgbClr val="7C3AED"/>
      </a:accent3>
      <a:accent4>
        <a:srgbClr val="F59E0B"/>
      </a:accent4>
      <a:accent5>
        <a:srgbClr val="06B6D4"/>
      </a:accent5>
      <a:accent6>
        <a:srgbClr val="EF4444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GuruSpa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Guru Space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Guru Space - Presentasi Guru Calon Pengguna</dc:title>
  <dc:creator>Guru Space</dc:creator>
  <cp:lastModifiedBy>Guru Space</cp:lastModifiedBy>
  <dcterms:created xsi:type="dcterms:W3CDTF">2026-07-14T00:00:00Z</dcterms:created>
  <dcterms:modified xsi:type="dcterms:W3CDTF">2026-07-14T00:00:00Z</dcterms:modified>
</cp:coreProperties>
</file>